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1fc366332a4ee8" /><Relationship Type="http://schemas.openxmlformats.org/officeDocument/2006/relationships/extended-properties" Target="/docProps/app.xml" Id="Rd6b1470e3dd54845" /><Relationship Type="http://schemas.openxmlformats.org/officeDocument/2006/relationships/officeDocument" Target="/ppt/presentation.xml" Id="R5e01db089f064f6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097f618bfe24858"/>
  </p:sldMasterIdLst>
  <p:notesMasterIdLst>
    <p:notesMasterId xmlns:r="http://schemas.openxmlformats.org/officeDocument/2006/relationships" r:id="Rd58797cf893a4962"/>
  </p:notesMasterIdLst>
  <p:sldIdLst>
    <p:sldId xmlns:r="http://schemas.openxmlformats.org/officeDocument/2006/relationships" id="256" r:id="Ra0e505754de047bd"/>
    <p:sldId xmlns:r="http://schemas.openxmlformats.org/officeDocument/2006/relationships" id="257" r:id="Rad0d513621ca482f"/>
    <p:sldId xmlns:r="http://schemas.openxmlformats.org/officeDocument/2006/relationships" id="258" r:id="R56728c73eb904adb"/>
    <p:sldId xmlns:r="http://schemas.openxmlformats.org/officeDocument/2006/relationships" id="259" r:id="R945f17efe6f041da"/>
    <p:sldId xmlns:r="http://schemas.openxmlformats.org/officeDocument/2006/relationships" id="260" r:id="Rd73e34d57da14815"/>
    <p:sldId xmlns:r="http://schemas.openxmlformats.org/officeDocument/2006/relationships" id="261" r:id="R7c5bc3389eaa4a2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f57ae1ef7c14940"/>
      <p:bold xmlns:r="http://schemas.openxmlformats.org/officeDocument/2006/relationships" r:id="Rd776676e14ff41a4"/>
      <p:italic xmlns:r="http://schemas.openxmlformats.org/officeDocument/2006/relationships" r:id="R78a65396ea4049e7"/>
      <p:boldItalic xmlns:r="http://schemas.openxmlformats.org/officeDocument/2006/relationships" r:id="R3b3481638c074e0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8bf0e9f8c4d3a" /><Relationship Type="http://schemas.openxmlformats.org/officeDocument/2006/relationships/slideMaster" Target="/ppt/slideMasters/slideMaster1.xml" Id="R4097f618bfe24858" /><Relationship Type="http://schemas.openxmlformats.org/officeDocument/2006/relationships/notesMaster" Target="/ppt/notesMasters/notesMaster1.xml" Id="Rd58797cf893a4962" /><Relationship Type="http://schemas.openxmlformats.org/officeDocument/2006/relationships/presProps" Target="/ppt/presProps.xml" Id="Rde23f512d5144fc2" /><Relationship Type="http://schemas.openxmlformats.org/officeDocument/2006/relationships/viewProps" Target="/ppt/viewProps.xml" Id="R874909cf323342a8" /><Relationship Type="http://schemas.openxmlformats.org/officeDocument/2006/relationships/tableStyles" Target="/ppt/tableStyles.xml" Id="Rd24220ef56794d02" /><Relationship Type="http://schemas.openxmlformats.org/officeDocument/2006/relationships/font" Target="/ppt/fonts/font.dat" Id="R5f57ae1ef7c14940" /><Relationship Type="http://schemas.openxmlformats.org/officeDocument/2006/relationships/font" Target="/ppt/fonts/font2.dat" Id="Rd776676e14ff41a4" /><Relationship Type="http://schemas.openxmlformats.org/officeDocument/2006/relationships/font" Target="/ppt/fonts/font3.dat" Id="R78a65396ea4049e7" /><Relationship Type="http://schemas.openxmlformats.org/officeDocument/2006/relationships/font" Target="/ppt/fonts/font4.dat" Id="R3b3481638c074e01" /><Relationship Type="http://schemas.openxmlformats.org/officeDocument/2006/relationships/slide" Target="/ppt/slides/slide1.xml" Id="Ra0e505754de047bd" /><Relationship Type="http://schemas.openxmlformats.org/officeDocument/2006/relationships/slide" Target="/ppt/slides/slide2.xml" Id="Rad0d513621ca482f" /><Relationship Type="http://schemas.openxmlformats.org/officeDocument/2006/relationships/slide" Target="/ppt/slides/slide3.xml" Id="R56728c73eb904adb" /><Relationship Type="http://schemas.openxmlformats.org/officeDocument/2006/relationships/slide" Target="/ppt/slides/slide4.xml" Id="R945f17efe6f041da" /><Relationship Type="http://schemas.openxmlformats.org/officeDocument/2006/relationships/slide" Target="/ppt/slides/slide5.xml" Id="Rd73e34d57da14815" /><Relationship Type="http://schemas.openxmlformats.org/officeDocument/2006/relationships/slide" Target="/ppt/slides/slide6.xml" Id="R7c5bc3389eaa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73b59524654f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d92ee7cb2744ff" /><Relationship Type="http://schemas.openxmlformats.org/officeDocument/2006/relationships/notesMaster" Target="/ppt/notesMasters/notesMaster1.xml" Id="R2a4623bc3187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0aed2660848e5" /><Relationship Type="http://schemas.openxmlformats.org/officeDocument/2006/relationships/notesMaster" Target="/ppt/notesMasters/notesMaster1.xml" Id="R64a2cd2f381146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8100bb90a84122" /><Relationship Type="http://schemas.openxmlformats.org/officeDocument/2006/relationships/notesMaster" Target="/ppt/notesMasters/notesMaster1.xml" Id="R5ce9ca4cc2c4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2bb54e135947fd" /><Relationship Type="http://schemas.openxmlformats.org/officeDocument/2006/relationships/notesMaster" Target="/ppt/notesMasters/notesMaster1.xml" Id="Rb13fe014d2294b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bd96c835e4bed" /><Relationship Type="http://schemas.openxmlformats.org/officeDocument/2006/relationships/notesMaster" Target="/ppt/notesMasters/notesMaster1.xml" Id="R6b5ec573aa4b4a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8ff1b4fa2f426b" /><Relationship Type="http://schemas.openxmlformats.org/officeDocument/2006/relationships/notesMaster" Target="/ppt/notesMasters/notesMaster1.xml" Id="R71d5d55dadd5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本文件为截至 2026-09-16 的阶段快照，不代表整月最终总结。来源：deliverables/b1_fixed_admittance/B1固定导纳_开发报告.md。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ontact_coverage_repair/coverage_results.json；dynamic_actuator_v1/dynamic_results.json；b1_fixed_admittance/results_index.json。动态阶段旧开发门槛未全部通过，原失败记录保留。这里的“完成”指实现与限定开发实验，不是全域有效性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图为 combined_a_scale_0.75_b1.json 中最终实际位姿的 MuJoCo 回放，透明材质只用于显示。B1 输入为 M 原点世界坐标接触 Fx、Fy、Tx、Ty，不读取真实针孔误差。当前模型不含完整 CR5 和手指柔性。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 7 个预定工况、14 个配对回合。零反馈几何完成 1 项，B1 几何完成 1 项。 名义目标推进量 4 mm。图表数据以 mm 为单位保留 6 位小数，以支持可编辑工作簿；全部原始精度数值见 results_index.json 和 monthly_facts.json。该固定样本计数不是统计成功率；同轴无接触完成不能证明导纳有效。几何完成还检查位置、总姿态、低速保持与全回合载荷。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联合 A ×0.75：零反馈推进 0.157 mm，B1 推进 0.247 mm，差值 +0.090 mm。 两者均未在该工况完成插入。曲线以记录采样，较短回合结束后保持其末值，仅便于共同时间轴展示。完整连续控制周期曲线及力与姿态见 01_B1与零反馈对照.png。该代表工况预先选定。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个固定开发工况，未开展随机误差统计试验。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几何完成不代表电连接、锁止或实机插装成功。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孔离散精度仍影响部分组合偏差，256 段仅作为开发配置。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质量、夹持关系、接触参数及保护阈值尚未实物标定。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B2：加入受限搜索和条件回撤，先处理 B1 停滞工况。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冻结评价协议，划分开发集与独立测试集。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再接入四维残差 SAC，并与固定基线比较。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原动态门槛失败不会被此次基线结果覆盖。论文贡献需要后续算法对照和独立测试支撑，不能把模型精细度或模块数量当作创新。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7484f1cf741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dc6dc7ced46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be085f42142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4be4e327140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8cae381a845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8b85572ec4b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e3ec18f8444d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f54ef7149403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8f2b3b70a3441c" /><Relationship Type="http://schemas.openxmlformats.org/officeDocument/2006/relationships/slideLayout" Target="/ppt/slideLayouts/slideLayout1.xml" Id="R3e17a07ccfc742ac" /><Relationship Type="http://schemas.openxmlformats.org/officeDocument/2006/relationships/slideLayout" Target="/ppt/slideLayouts/slideLayout2.xml" Id="R7f96cb320fc1404a" /><Relationship Type="http://schemas.openxmlformats.org/officeDocument/2006/relationships/slideLayout" Target="/ppt/slideLayouts/slideLayout3.xml" Id="Rd47ecbd944bc481f" /><Relationship Type="http://schemas.openxmlformats.org/officeDocument/2006/relationships/slideLayout" Target="/ppt/slideLayouts/slideLayout4.xml" Id="Ra54d9c0d3b004bcc" /><Relationship Type="http://schemas.openxmlformats.org/officeDocument/2006/relationships/slideLayout" Target="/ppt/slideLayouts/slideLayout5.xml" Id="R7ab869a9cb404a2a" /><Relationship Type="http://schemas.openxmlformats.org/officeDocument/2006/relationships/slideLayout" Target="/ppt/slideLayouts/slideLayout6.xml" Id="Rc770eb6771054a6e" /><Relationship Type="http://schemas.openxmlformats.org/officeDocument/2006/relationships/slideLayout" Target="/ppt/slideLayouts/slideLayout7.xml" Id="Rc5dd1996502f41ed" /><Relationship Type="http://schemas.openxmlformats.org/officeDocument/2006/relationships/slideLayout" Target="/ppt/slideLayouts/slideLayout8.xml" Id="Re251d929c93747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17a07ccfc742ac"/>
    <p:sldLayoutId xmlns:r="http://schemas.openxmlformats.org/officeDocument/2006/relationships" id="2147483650" r:id="R7f96cb320fc1404a"/>
    <p:sldLayoutId xmlns:r="http://schemas.openxmlformats.org/officeDocument/2006/relationships" id="2147483651" r:id="Rd47ecbd944bc481f"/>
    <p:sldLayoutId xmlns:r="http://schemas.openxmlformats.org/officeDocument/2006/relationships" id="2147483652" r:id="Ra54d9c0d3b004bcc"/>
    <p:sldLayoutId xmlns:r="http://schemas.openxmlformats.org/officeDocument/2006/relationships" id="2147483653" r:id="R7ab869a9cb404a2a"/>
    <p:sldLayoutId xmlns:r="http://schemas.openxmlformats.org/officeDocument/2006/relationships" id="2147483654" r:id="Rc770eb6771054a6e"/>
    <p:sldLayoutId xmlns:r="http://schemas.openxmlformats.org/officeDocument/2006/relationships" id="2147483655" r:id="Rc5dd1996502f41ed"/>
    <p:sldLayoutId xmlns:r="http://schemas.openxmlformats.org/officeDocument/2006/relationships" id="2147483656" r:id="Re251d929c93747d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4802e8c414e08" /><Relationship Type="http://schemas.openxmlformats.org/officeDocument/2006/relationships/notesSlide" Target="/ppt/notesSlides/notesSlide1.xml" Id="R7a70ca711404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db9b9ea014a72" /><Relationship Type="http://schemas.openxmlformats.org/officeDocument/2006/relationships/notesSlide" Target="/ppt/notesSlides/notesSlide2.xml" Id="Rda346fa1f02a46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3f545a7a243dd" /><Relationship Type="http://schemas.openxmlformats.org/officeDocument/2006/relationships/image" Target="/ppt/media/image.png" Id="R19482cb398864df1" /><Relationship Type="http://schemas.openxmlformats.org/officeDocument/2006/relationships/notesSlide" Target="/ppt/notesSlides/notesSlide3.xml" Id="R9c6797845f7b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3f0e9084e4517" /><Relationship Type="http://schemas.openxmlformats.org/officeDocument/2006/relationships/chart" Target="/ppt/slides/charts/chart1.xml" Id="R9ec7021c2ad444b4" /><Relationship Type="http://schemas.openxmlformats.org/officeDocument/2006/relationships/notesSlide" Target="/ppt/notesSlides/notesSlide4.xml" Id="Rd8134018ab7049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5a79a91d54bb9" /><Relationship Type="http://schemas.openxmlformats.org/officeDocument/2006/relationships/chart" Target="/ppt/slides/charts/chart2.xml" Id="R0b1789dac1604df1" /><Relationship Type="http://schemas.openxmlformats.org/officeDocument/2006/relationships/notesSlide" Target="/ppt/notesSlides/notesSlide5.xml" Id="R106ce5b64c8c43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cbc7d74f14f57" /><Relationship Type="http://schemas.openxmlformats.org/officeDocument/2006/relationships/notesSlide" Target="/ppt/notesSlides/notesSlide6.xml" Id="R58b2eee1297746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零反馈</c:v>
          </c:tx>
          <c:spPr>
            <a:solidFill xmlns:a="http://schemas.openxmlformats.org/drawingml/2006/main">
              <a:srgbClr val="778391"/>
            </a:solidFill>
          </c:spPr>
          <c:cat>
            <c:strRef>
              <c:f>'Chart Data'!$A$2:$A$8</c:f>
              <c:strCache>
                <c:ptCount val="7"/>
                <c:pt idx="0">
                  <c:v>同轴</c:v>
                </c:pt>
                <c:pt idx="1">
                  <c:v>X偏差</c:v>
                </c:pt>
                <c:pt idx="2">
                  <c:v>Y偏差</c:v>
                </c:pt>
                <c:pt idx="3">
                  <c:v>倾角</c:v>
                </c:pt>
                <c:pt idx="4">
                  <c:v>A×0.75</c:v>
                </c:pt>
                <c:pt idx="5">
                  <c:v>B×0.75</c:v>
                </c:pt>
                <c:pt idx="6">
                  <c:v>A全幅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3.991206</c:v>
                </c:pt>
                <c:pt idx="1">
                  <c:v>0.249998</c:v>
                </c:pt>
                <c:pt idx="2">
                  <c:v>0.249997</c:v>
                </c:pt>
                <c:pt idx="3">
                  <c:v>0.223866</c:v>
                </c:pt>
                <c:pt idx="4">
                  <c:v>0.156673</c:v>
                </c:pt>
                <c:pt idx="5">
                  <c:v>0.16779</c:v>
                </c:pt>
                <c:pt idx="6">
                  <c:v>0.111302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18799C"/>
            </a:solidFill>
          </c:spPr>
          <c:cat>
            <c:strRef>
              <c:f>'Chart Data'!$C$2:$C$8</c:f>
              <c:strCache>
                <c:ptCount val="7"/>
                <c:pt idx="0">
                  <c:v>同轴</c:v>
                </c:pt>
                <c:pt idx="1">
                  <c:v>X偏差</c:v>
                </c:pt>
                <c:pt idx="2">
                  <c:v>Y偏差</c:v>
                </c:pt>
                <c:pt idx="3">
                  <c:v>倾角</c:v>
                </c:pt>
                <c:pt idx="4">
                  <c:v>A×0.75</c:v>
                </c:pt>
                <c:pt idx="5">
                  <c:v>B×0.75</c:v>
                </c:pt>
                <c:pt idx="6">
                  <c:v>A全幅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3.991206</c:v>
                </c:pt>
                <c:pt idx="1">
                  <c:v>0.249998</c:v>
                </c:pt>
                <c:pt idx="2">
                  <c:v>0.249997</c:v>
                </c:pt>
                <c:pt idx="3">
                  <c:v>0.23811</c:v>
                </c:pt>
                <c:pt idx="4">
                  <c:v>0.246839</c:v>
                </c:pt>
                <c:pt idx="5">
                  <c:v>0.246308</c:v>
                </c:pt>
                <c:pt idx="6">
                  <c:v>0.238713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7 个固定开发工况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Microsoft YaHei"/>
                    <a:ea typeface="Microsoft YaHei"/>
                    <a:cs typeface="Microsoft YaHei"/>
                  </a:rPr>
                  <a:t>最终实际推进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零反馈</c:v>
          </c:tx>
          <c:spPr>
            <a:ln xmlns:a="http://schemas.openxmlformats.org/drawingml/2006/main" w="19050">
              <a:solidFill>
                <a:srgbClr val="778391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</c:numCache>
            </c:numRef>
          </c:cat>
          <c:val>
            <c:numRef>
              <c:f>'Chart Data'!$B$2:$B$16</c:f>
              <c:numCache>
                <c:formatCode>0.00</c:formatCode>
                <c:ptCount val="15"/>
                <c:pt idx="0">
                  <c:v>0</c:v>
                </c:pt>
                <c:pt idx="1">
                  <c:v>0.15517</c:v>
                </c:pt>
                <c:pt idx="2">
                  <c:v>0.158724</c:v>
                </c:pt>
                <c:pt idx="3">
                  <c:v>0.15883</c:v>
                </c:pt>
                <c:pt idx="4">
                  <c:v>0.15903</c:v>
                </c:pt>
                <c:pt idx="5">
                  <c:v>0.159081</c:v>
                </c:pt>
                <c:pt idx="6">
                  <c:v>0.159244</c:v>
                </c:pt>
                <c:pt idx="7">
                  <c:v>0.159333</c:v>
                </c:pt>
                <c:pt idx="8">
                  <c:v>0.156622</c:v>
                </c:pt>
                <c:pt idx="9">
                  <c:v>0.156665</c:v>
                </c:pt>
                <c:pt idx="10">
                  <c:v>0.156673</c:v>
                </c:pt>
                <c:pt idx="11">
                  <c:v>0.156673</c:v>
                </c:pt>
                <c:pt idx="12">
                  <c:v>0.156673</c:v>
                </c:pt>
                <c:pt idx="13">
                  <c:v>0.156673</c:v>
                </c:pt>
                <c:pt idx="14">
                  <c:v>0.156673</c:v>
                </c:pt>
              </c:numCache>
            </c:numRef>
          </c:val>
          <c:smooth val="0"/>
        </c:ser>
        <c:ser>
          <c:idx val="1"/>
          <c:order val="1"/>
          <c:tx>
            <c:v>B1</c:v>
          </c:tx>
          <c:spPr>
            <a:ln xmlns:a="http://schemas.openxmlformats.org/drawingml/2006/main" w="19050">
              <a:solidFill>
                <a:srgbClr val="18799C"/>
              </a:solidFill>
            </a:ln>
          </c:spPr>
          <c:marker>
            <c:symbol val="none"/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</c:numCache>
            </c:numRef>
          </c:cat>
          <c:val>
            <c:numRef>
              <c:f>'Chart Data'!$D$2:$D$16</c:f>
              <c:numCache>
                <c:formatCode>0.00</c:formatCode>
                <c:ptCount val="15"/>
                <c:pt idx="0">
                  <c:v>0</c:v>
                </c:pt>
                <c:pt idx="1">
                  <c:v>0.166865</c:v>
                </c:pt>
                <c:pt idx="2">
                  <c:v>0.206391</c:v>
                </c:pt>
                <c:pt idx="3">
                  <c:v>0.231704</c:v>
                </c:pt>
                <c:pt idx="4">
                  <c:v>0.233748</c:v>
                </c:pt>
                <c:pt idx="5">
                  <c:v>0.235519</c:v>
                </c:pt>
                <c:pt idx="6">
                  <c:v>0.237255</c:v>
                </c:pt>
                <c:pt idx="7">
                  <c:v>0.23892</c:v>
                </c:pt>
                <c:pt idx="8">
                  <c:v>0.240667</c:v>
                </c:pt>
                <c:pt idx="9">
                  <c:v>0.242352</c:v>
                </c:pt>
                <c:pt idx="10">
                  <c:v>0.243902</c:v>
                </c:pt>
                <c:pt idx="11">
                  <c:v>0.24564</c:v>
                </c:pt>
                <c:pt idx="12">
                  <c:v>0.247127</c:v>
                </c:pt>
                <c:pt idx="13">
                  <c:v>0.24683</c:v>
                </c:pt>
                <c:pt idx="14">
                  <c:v>0.246839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仿真时间 /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Microsoft YaHei"/>
                    <a:ea typeface="Microsoft YaHei"/>
                    <a:cs typeface="Microsoft YaHei"/>
                  </a:rPr>
                  <a:t>实际推进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D-sub9 装配</a:t>
            </a:r>
          </a:p>
          <a:p xmlns:a="http://schemas.openxmlformats.org/drawingml/2006/main">
            <a:pPr>
              <a:defRPr sz="72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阶段进展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接触驱动仿真与固定导纳基线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截至 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课题月度汇报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fld id="{E2598689-54C9-18A7-3A19-ED76AA08988F}" type="slidenum">
              <a: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本阶段完成的工作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3373755"/>
            <a:ext cx="11460480" cy="30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本次完成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动态执行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接触反力影响实际运动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实现限速与受限停止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接触模型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识别针孔和壳体接触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检查漏检与几何近似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固定导纳 B1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闭环修正位置和姿态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完成 7 个工况的对照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fld id="{202359C0-8A7A-196E-DD58-8E6569619F09}" type="slidenum">
              <a: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接触反馈与固定导纳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82cb398864df1"/>
          <a:stretch xmlns:a="http://schemas.openxmlformats.org/drawingml/2006/main"/>
        </p:blipFill>
        <p:spPr>
          <a:xfrm xmlns:a="http://schemas.openxmlformats.org/drawingml/2006/main">
            <a:off x="6297111" y="1428750"/>
            <a:ext cx="5483657" cy="4569714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接触载荷驱动修正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读取接触力与力矩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计算 XY 和倾角修正速度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经限幅与保护执行运动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Z 方向保持受限推进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当前尚无学习或主动搜索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fld id="{EFD6AB9A-5F9E-5F59-51AB-3C8734130965}" type="slidenum">
              <a: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全部开发工况的推进对照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u="none" cap="none" spc="0">
                <a:ln>
                  <a:noFill/>
                </a:ln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零反馈参考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几何完成工况数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u="none" cap="none" spc="0">
                <a:ln>
                  <a:noFill/>
                </a:ln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B1 固定导纳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几何完成工况数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14 个配对回合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相同初始条件、推进速度和保护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固定参数，中途不调整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几何完成均为同轴无接触工况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393668" y="1476375"/>
          <a:ext xmlns:a="http://schemas.openxmlformats.org/drawingml/2006/main" cx="5667375" cy="4514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c7021c2ad444b4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fld id="{EE5B3003-2C54-13C6-9832-7637201064DE}" type="slidenum">
              <a: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联合偏差的局部推进结果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u="none" cap="none" spc="0">
                <a:ln>
                  <a:noFill/>
                </a:ln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0.157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零反馈推进 / mm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推进停滞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u="none" cap="none" spc="0">
                <a:ln>
                  <a:noFill/>
                </a:ln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0.247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B1 推进 / mm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到达时限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619250"/>
            <a:ext cx="5539740" cy="1457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联合 A ×0.75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初始位置偏差 +45 / −30 μm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初始倾角 +1.125 / −1.125°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93668" y="1447800"/>
          <a:ext xmlns:a="http://schemas.openxmlformats.org/drawingml/2006/main" cx="5534216" cy="4543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1789dac1604df1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fld id="{8C630A04-5A25-9E0C-9436-126091DB86B3}" type="slidenum">
              <a:rPr sz="9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当前限制与下一步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部分偏差仍在入口台阶受阻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孔离散精度影响部分接触结果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夹持和接触参数尚未实物标定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当前结果限于固定开发工况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下一步：B2 搜索与恢复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先处理 B1 已暴露的停滞工况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设置搜索范围、回撤和重试预算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冻结评价条件后再引入残差学习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保留过程曲线与失败样本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2026-09-16T09:25:36.9920000Z</dcterms:created>
  <dcterms:modified xsi:type="dcterms:W3CDTF">2026-09-16T09:25:36.9920000Z</dcterms:modified>
</coreProperties>
</file>